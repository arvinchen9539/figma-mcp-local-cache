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6000" b="1">
                <a:solidFill>
                  <a:srgbClr val="64FFDA"/>
                </a:solidFill>
              </a:defRPr>
            </a:pPr>
            <a:r>
              <a:t>FIGMA MCP LOCAL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E6F1FF"/>
                </a:solidFill>
              </a:defRPr>
            </a:pPr>
            <a:r>
              <a:t>极速 · 智能 · 本地化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6B6B"/>
                </a:solidFill>
              </a:defRPr>
            </a:pPr>
            <a:r>
              <a:t>为什么我们需要它？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sz="2800">
                <a:solidFill>
                  <a:srgbClr val="8892B0"/>
                </a:solidFill>
              </a:defRPr>
            </a:pPr>
            <a:r>
              <a:t>🐢 API 调用太慢，等待让人抓狂</a:t>
            </a:r>
          </a:p>
          <a:p>
            <a:pPr>
              <a:spcAft>
                <a:spcPts val="2000"/>
              </a:spcAft>
              <a:defRPr sz="2800">
                <a:solidFill>
                  <a:srgbClr val="8892B0"/>
                </a:solidFill>
              </a:defRPr>
            </a:pPr>
            <a:r>
              <a:t>💸 频繁请求触发限流，业务中断</a:t>
            </a:r>
          </a:p>
          <a:p>
            <a:pPr>
              <a:spcAft>
                <a:spcPts val="2000"/>
              </a:spcAft>
              <a:defRPr sz="2800">
                <a:solidFill>
                  <a:srgbClr val="8892B0"/>
                </a:solidFill>
              </a:defRPr>
            </a:pPr>
            <a:r>
              <a:t>🚫 断网 = 断粮，无法离线工作</a:t>
            </a:r>
          </a:p>
          <a:p>
            <a:pPr>
              <a:spcAft>
                <a:spcPts val="2000"/>
              </a:spcAft>
              <a:defRPr sz="2800">
                <a:solidFill>
                  <a:srgbClr val="8892B0"/>
                </a:solidFill>
              </a:defRPr>
            </a:pPr>
            <a:r>
              <a:t>🤯 数据结构复杂，解析耗时耗力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64FFDA"/>
                </a:solidFill>
              </a:defRPr>
            </a:pPr>
            <a:r>
              <a:t>核心黑科技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solidFill>
            <a:srgbClr val="112240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>
                <a:solidFill>
                  <a:srgbClr val="E6F1FF"/>
                </a:solidFill>
              </a:defRPr>
            </a:pPr>
            <a:r>
              <a:t>MCP 协议驱动</a:t>
            </a:r>
            <a:br/>
            <a:br/>
            <a:r>
              <a:t>完美对接 Cursor/Trae</a:t>
            </a:r>
            <a:br/>
            <a:r>
              <a:t>让 AI 直接读取设计稿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286000"/>
          </a:xfrm>
          <a:prstGeom prst="rect">
            <a:avLst/>
          </a:prstGeom>
          <a:solidFill>
            <a:srgbClr val="112240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>
                <a:solidFill>
                  <a:srgbClr val="E6F1FF"/>
                </a:solidFill>
              </a:defRPr>
            </a:pPr>
            <a:r>
              <a:t>双模存储引擎</a:t>
            </a:r>
            <a:br/>
            <a:br/>
            <a:r>
              <a:t>MySQL 数据库 (企业级)</a:t>
            </a:r>
            <a:br/>
            <a:r>
              <a:t>JSON 文件系统 (轻量级)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572000"/>
            <a:ext cx="3657600" cy="1828800"/>
          </a:xfrm>
          <a:prstGeom prst="rect">
            <a:avLst/>
          </a:prstGeom>
          <a:solidFill>
            <a:srgbClr val="112240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>
                <a:solidFill>
                  <a:srgbClr val="E6F1FF"/>
                </a:solidFill>
              </a:defRPr>
            </a:pPr>
            <a:r>
              <a:t>智能缓存策略</a:t>
            </a:r>
            <a:br/>
            <a:br/>
            <a:r>
              <a:t>优先本地命中</a:t>
            </a:r>
            <a:br/>
            <a:r>
              <a:t>按需强制同步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CE6B"/>
                </a:solidFill>
              </a:defRPr>
            </a:pPr>
            <a:r>
              <a:t>系统架构一览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828800" cy="1371600"/>
          </a:xfrm>
          <a:prstGeom prst="rect">
            <a:avLst/>
          </a:prstGeom>
          <a:solidFill>
            <a:srgbClr val="64FF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A192F"/>
                </a:solidFill>
              </a:defRPr>
            </a:pPr>
            <a:r>
              <a:t>AI Agent</a:t>
            </a:r>
          </a:p>
          <a:p>
            <a:r>
              <a:t>(Cursor/Trae)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743200"/>
            <a:ext cx="1828800" cy="1371600"/>
          </a:xfrm>
          <a:prstGeom prst="rect">
            <a:avLst/>
          </a:prstGeom>
          <a:solidFill>
            <a:srgbClr val="FF6B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Figma MCP</a:t>
            </a:r>
          </a:p>
          <a:p>
            <a:r>
              <a:t>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1828800" cy="1371600"/>
          </a:xfrm>
          <a:prstGeom prst="rect">
            <a:avLst/>
          </a:prstGeom>
          <a:solidFill>
            <a:srgbClr val="8892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MySQL / JSON</a:t>
            </a:r>
          </a:p>
          <a:p>
            <a:r>
              <a:t>Cache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4114800"/>
            <a:ext cx="1828800" cy="1371600"/>
          </a:xfrm>
          <a:prstGeom prst="rect">
            <a:avLst/>
          </a:prstGeom>
          <a:solidFill>
            <a:srgbClr val="8892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Figma Cloud</a:t>
            </a:r>
          </a:p>
          <a:p>
            <a:r>
              <a:t>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34290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486400" y="2514600"/>
            <a:ext cx="914400" cy="685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3657600"/>
            <a:ext cx="914400" cy="1143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 b="1">
                <a:solidFill>
                  <a:srgbClr val="64FFDA"/>
                </a:solidFill>
              </a:defRPr>
            </a:pPr>
            <a:r>
              <a:t>立即体验极速开发</a:t>
            </a:r>
          </a:p>
          <a:p>
            <a:pPr algn="ctr">
              <a:spcBef>
                <a:spcPts val="3000"/>
              </a:spcBef>
              <a:defRPr sz="3000">
                <a:solidFill>
                  <a:srgbClr val="E6F1FF"/>
                </a:solidFill>
              </a:defRPr>
            </a:pPr>
            <a:r>
              <a:t>github.com/figma-mcp-local-cache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